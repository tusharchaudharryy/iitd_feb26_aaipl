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3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5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4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6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3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7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9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2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0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3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7222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09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19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65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44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97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9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rendra.kumar.soni28@gmail.com" TargetMode="External"/><Relationship Id="rId2" Type="http://schemas.openxmlformats.org/officeDocument/2006/relationships/hyperlink" Target="mailto:chaudharytushar.workspace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344" y="621793"/>
            <a:ext cx="8293608" cy="1737359"/>
          </a:xfrm>
        </p:spPr>
        <p:txBody>
          <a:bodyPr>
            <a:normAutofit/>
          </a:bodyPr>
          <a:lstStyle/>
          <a:p>
            <a:r>
              <a:rPr lang="it-IT" sz="4800" dirty="0"/>
              <a:t>AMD AI Premier League (AAIPL)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2423160"/>
            <a:ext cx="7589520" cy="1894841"/>
          </a:xfrm>
        </p:spPr>
        <p:txBody>
          <a:bodyPr>
            <a:noAutofit/>
          </a:bodyPr>
          <a:lstStyle/>
          <a:p>
            <a:r>
              <a:rPr sz="2400" dirty="0"/>
              <a:t>A High-Performance Adversarial Agent System for Logic Puzzles</a:t>
            </a:r>
          </a:p>
          <a:p>
            <a:endParaRPr sz="2400" dirty="0"/>
          </a:p>
          <a:p>
            <a:r>
              <a:rPr lang="en-IN" sz="2400" b="1" dirty="0"/>
              <a:t>                                      </a:t>
            </a:r>
            <a:r>
              <a:rPr sz="2400" b="1" dirty="0"/>
              <a:t>Team 17</a:t>
            </a:r>
            <a:br>
              <a:rPr lang="en-IN" sz="2400" b="1" dirty="0"/>
            </a:br>
            <a:endParaRPr lang="en-IN" sz="2400" b="1" dirty="0"/>
          </a:p>
          <a:p>
            <a:r>
              <a:rPr lang="en-IN" sz="1600" b="1" dirty="0"/>
              <a:t>For any details/queries:</a:t>
            </a:r>
            <a:br>
              <a:rPr lang="en-IN" sz="1600" b="1" dirty="0"/>
            </a:br>
            <a:r>
              <a:rPr lang="en-IN" sz="1600" b="1" dirty="0"/>
              <a:t>1. </a:t>
            </a:r>
            <a:r>
              <a:rPr lang="en-IN" sz="1400" dirty="0">
                <a:hlinkClick r:id="rId2"/>
              </a:rPr>
              <a:t>chaudharytushar.workspace@gmail.com</a:t>
            </a:r>
            <a:br>
              <a:rPr lang="en-IN" sz="1400" dirty="0"/>
            </a:br>
            <a:r>
              <a:rPr lang="en-IN" sz="1600" b="1" dirty="0"/>
              <a:t>2. </a:t>
            </a:r>
            <a:r>
              <a:rPr lang="en-IN" sz="1400" dirty="0">
                <a:hlinkClick r:id="rId3"/>
              </a:rPr>
              <a:t>narendra.kumar.soni28@gmail.com</a:t>
            </a:r>
            <a:endParaRPr lang="en-IN" dirty="0"/>
          </a:p>
          <a:p>
            <a:br>
              <a:rPr lang="en-IN" sz="2400" b="1" dirty="0"/>
            </a:br>
            <a:endParaRPr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Objective:</a:t>
            </a:r>
            <a:endParaRPr lang="en-IN" dirty="0"/>
          </a:p>
          <a:p>
            <a:pPr marL="0" indent="0">
              <a:buNone/>
            </a:pPr>
            <a:r>
              <a:rPr lang="en-IN" sz="1800" dirty="0"/>
              <a:t>     </a:t>
            </a:r>
            <a:r>
              <a:rPr lang="en-US" sz="1800" dirty="0"/>
              <a:t>Build two adversarial agents (Questioner &amp; Answerer) to compete in a logic puzzle tournament.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dirty="0"/>
              <a:t>Key Constraints:</a:t>
            </a:r>
            <a:endParaRPr dirty="0"/>
          </a:p>
          <a:p>
            <a:pPr lvl="1"/>
            <a:r>
              <a:rPr sz="1800" dirty="0"/>
              <a:t>Strict Formats: JSON output only.</a:t>
            </a:r>
          </a:p>
          <a:p>
            <a:pPr lvl="1"/>
            <a:r>
              <a:rPr sz="1800" dirty="0"/>
              <a:t>Latency Limits: Q-Agent &lt; 13s, A-Agent &lt; 9s.</a:t>
            </a:r>
          </a:p>
          <a:p>
            <a:pPr lvl="1"/>
            <a:r>
              <a:rPr sz="1800" dirty="0"/>
              <a:t>Topics: Syllogisms, Seating Arrangements, Blood Relations, Alphanumeric Series.</a:t>
            </a:r>
          </a:p>
          <a:p>
            <a:pPr lvl="1"/>
            <a:r>
              <a:rPr sz="1800" dirty="0"/>
              <a:t>Hardware: AMD MI300X GPU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High-Level Pipeline:</a:t>
            </a:r>
          </a:p>
          <a:p>
            <a:pPr lvl="1"/>
            <a:r>
              <a:rPr sz="1800" dirty="0"/>
              <a:t>Data Engine: synthetic-data-kit + </a:t>
            </a:r>
            <a:r>
              <a:rPr sz="1800" dirty="0" err="1"/>
              <a:t>vLLM</a:t>
            </a:r>
            <a:r>
              <a:rPr sz="1800" dirty="0"/>
              <a:t> for topic-specific training data.</a:t>
            </a:r>
          </a:p>
          <a:p>
            <a:pPr lvl="1"/>
            <a:r>
              <a:rPr sz="1800" dirty="0"/>
              <a:t>Training Core: </a:t>
            </a:r>
            <a:r>
              <a:rPr sz="1800" dirty="0" err="1"/>
              <a:t>Unsloth</a:t>
            </a:r>
            <a:r>
              <a:rPr sz="1800" dirty="0"/>
              <a:t> framework for memory-efficient </a:t>
            </a:r>
            <a:r>
              <a:rPr sz="1800" dirty="0" err="1"/>
              <a:t>LoRA</a:t>
            </a:r>
            <a:r>
              <a:rPr sz="1800" dirty="0"/>
              <a:t> fine-tuning on AMD </a:t>
            </a:r>
            <a:r>
              <a:rPr sz="1800" dirty="0" err="1"/>
              <a:t>ROCm</a:t>
            </a:r>
            <a:r>
              <a:rPr sz="1800" dirty="0"/>
              <a:t>.</a:t>
            </a:r>
          </a:p>
          <a:p>
            <a:pPr lvl="1"/>
            <a:r>
              <a:rPr sz="1800" dirty="0"/>
              <a:t>Inference Engine: Custom Python agents with regex parsing and latency guardrails.</a:t>
            </a:r>
            <a:endParaRPr lang="en-IN" sz="1800" dirty="0"/>
          </a:p>
          <a:p>
            <a:pPr marL="457200" lvl="1" indent="0">
              <a:buNone/>
            </a:pPr>
            <a:endParaRPr sz="2000" dirty="0"/>
          </a:p>
          <a:p>
            <a:pPr marL="457200" lvl="1" indent="0">
              <a:buNone/>
            </a:pPr>
            <a:r>
              <a:rPr sz="2200" dirty="0"/>
              <a:t>Tech Stack:</a:t>
            </a:r>
          </a:p>
          <a:p>
            <a:pPr lvl="1"/>
            <a:r>
              <a:rPr sz="1800" dirty="0"/>
              <a:t>Base Model: Qwen/Qwen2.5-14B-Instruct</a:t>
            </a:r>
          </a:p>
          <a:p>
            <a:pPr lvl="1"/>
            <a:r>
              <a:rPr sz="1800" dirty="0"/>
              <a:t>Inference: </a:t>
            </a:r>
            <a:r>
              <a:rPr sz="1800" dirty="0" err="1"/>
              <a:t>HuggingFace</a:t>
            </a:r>
            <a:r>
              <a:rPr sz="1800" dirty="0"/>
              <a:t> Transformers (FP16)</a:t>
            </a:r>
          </a:p>
          <a:p>
            <a:pPr lvl="1"/>
            <a:r>
              <a:rPr sz="1800" dirty="0"/>
              <a:t>Accelerator: AMD Instinct MI300X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Strategy (The Foundation)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Synthetic Data Generation:</a:t>
            </a:r>
          </a:p>
          <a:p>
            <a:pPr lvl="1"/>
            <a:r>
              <a:rPr sz="1800" dirty="0"/>
              <a:t>Tool: synthetic-data-kit with local </a:t>
            </a:r>
            <a:r>
              <a:rPr sz="1800" dirty="0" err="1"/>
              <a:t>vLLM</a:t>
            </a:r>
            <a:r>
              <a:rPr sz="1800" dirty="0"/>
              <a:t> server.</a:t>
            </a:r>
          </a:p>
          <a:p>
            <a:pPr lvl="1"/>
            <a:r>
              <a:rPr sz="1800" dirty="0"/>
              <a:t>Source Material: Topic descriptions + example puzzles.</a:t>
            </a:r>
          </a:p>
          <a:p>
            <a:pPr lvl="1"/>
            <a:r>
              <a:rPr sz="1800" dirty="0"/>
              <a:t>Prompt Engineering: Strict Teacher Prompts for valid JSON puzzles.</a:t>
            </a:r>
          </a:p>
          <a:p>
            <a:pPr lvl="1"/>
            <a:r>
              <a:rPr sz="1800" dirty="0"/>
              <a:t>Volume: Focused datasets for Seating Arrangements &amp; Blood Relations.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Why Qwen 2.5 14B?</a:t>
            </a:r>
          </a:p>
          <a:p>
            <a:pPr lvl="1"/>
            <a:r>
              <a:rPr sz="1800" dirty="0"/>
              <a:t>Stronger logic &amp; math reasoning vs 8B models.</a:t>
            </a:r>
          </a:p>
          <a:p>
            <a:pPr lvl="1"/>
            <a:r>
              <a:rPr sz="1800" dirty="0"/>
              <a:t>Fits MI300X memory with 4-bit quantization during training.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sz="2000" dirty="0"/>
              <a:t>Fine-Tuning Process:</a:t>
            </a:r>
          </a:p>
          <a:p>
            <a:pPr lvl="1"/>
            <a:r>
              <a:rPr sz="1800" dirty="0"/>
              <a:t>Method: </a:t>
            </a:r>
            <a:r>
              <a:rPr sz="1800" dirty="0" err="1"/>
              <a:t>LoRA</a:t>
            </a:r>
            <a:r>
              <a:rPr sz="1800" dirty="0"/>
              <a:t> via </a:t>
            </a:r>
            <a:r>
              <a:rPr sz="1800" dirty="0" err="1"/>
              <a:t>Unsloth</a:t>
            </a:r>
            <a:r>
              <a:rPr sz="1800" dirty="0"/>
              <a:t> (Rank r=16).</a:t>
            </a:r>
          </a:p>
          <a:p>
            <a:pPr lvl="1"/>
            <a:r>
              <a:rPr sz="1800" dirty="0"/>
              <a:t>Merged </a:t>
            </a:r>
            <a:r>
              <a:rPr sz="1800" dirty="0" err="1"/>
              <a:t>LoRA</a:t>
            </a:r>
            <a:r>
              <a:rPr sz="1800" dirty="0"/>
              <a:t> into base model.</a:t>
            </a:r>
          </a:p>
          <a:p>
            <a:pPr lvl="1"/>
            <a:r>
              <a:rPr sz="1800" dirty="0"/>
              <a:t>Saved as 16-bit (bfloat16) for faster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Agent Engineering (The Secret Sauce)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      </a:t>
            </a:r>
            <a:r>
              <a:rPr sz="2000" dirty="0"/>
              <a:t>1. Chatty Model Fix:</a:t>
            </a:r>
          </a:p>
          <a:p>
            <a:pPr lvl="1"/>
            <a:r>
              <a:rPr lang="en-IN" sz="1800" dirty="0"/>
              <a:t>Regex Parser (</a:t>
            </a:r>
            <a:r>
              <a:rPr lang="en-IN" sz="1800" dirty="0" err="1"/>
              <a:t>re.search</a:t>
            </a:r>
            <a:r>
              <a:rPr lang="en-IN" sz="1800" dirty="0"/>
              <a:t>(r'{.*}', ..., </a:t>
            </a:r>
            <a:r>
              <a:rPr lang="en-IN" sz="1800" dirty="0" err="1"/>
              <a:t>re.DOTALL</a:t>
            </a:r>
            <a:r>
              <a:rPr lang="en-IN" sz="1800" dirty="0"/>
              <a:t>)) to extract valid JSON.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sz="2000" dirty="0"/>
              <a:t>2. Latency Guardrails:</a:t>
            </a:r>
          </a:p>
          <a:p>
            <a:pPr lvl="1"/>
            <a:r>
              <a:rPr sz="1800" dirty="0"/>
              <a:t>Q-Agent: </a:t>
            </a:r>
            <a:r>
              <a:rPr sz="1800" dirty="0" err="1"/>
              <a:t>max_new_tokens</a:t>
            </a:r>
            <a:r>
              <a:rPr sz="1800" dirty="0"/>
              <a:t>=400 (~5.3s avg).</a:t>
            </a:r>
          </a:p>
          <a:p>
            <a:pPr lvl="1"/>
            <a:r>
              <a:rPr sz="1800" dirty="0"/>
              <a:t>A-Agent: </a:t>
            </a:r>
            <a:r>
              <a:rPr sz="1800" dirty="0" err="1"/>
              <a:t>max_new_tokens</a:t>
            </a:r>
            <a:r>
              <a:rPr sz="1800" dirty="0"/>
              <a:t>=200 (~3.2s avg).</a:t>
            </a:r>
          </a:p>
          <a:p>
            <a:pPr lvl="1"/>
            <a:endParaRPr sz="2000" dirty="0"/>
          </a:p>
          <a:p>
            <a:pPr marL="457200" lvl="1" indent="0">
              <a:buNone/>
            </a:pPr>
            <a:r>
              <a:rPr sz="2000" dirty="0"/>
              <a:t>3. Deterministic Solving:</a:t>
            </a:r>
          </a:p>
          <a:p>
            <a:pPr lvl="1"/>
            <a:r>
              <a:rPr sz="1800" dirty="0"/>
              <a:t>Greedy Decoding (</a:t>
            </a:r>
            <a:r>
              <a:rPr sz="1800" dirty="0" err="1"/>
              <a:t>do_sample</a:t>
            </a:r>
            <a:r>
              <a:rPr sz="1800" dirty="0"/>
              <a:t>=False) for logical consistency.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Verification Stats (Local Testing):</a:t>
            </a:r>
          </a:p>
          <a:p>
            <a:pPr lvl="1"/>
            <a:r>
              <a:rPr sz="1800" dirty="0"/>
              <a:t>Q-Agent Validity: 100% Valid JSON.</a:t>
            </a:r>
          </a:p>
          <a:p>
            <a:pPr lvl="1"/>
            <a:r>
              <a:rPr sz="1800" dirty="0"/>
              <a:t>Q-Agent Speed: ~5.27s/question.</a:t>
            </a:r>
          </a:p>
          <a:p>
            <a:pPr lvl="1"/>
            <a:r>
              <a:rPr sz="1800" dirty="0"/>
              <a:t>A-Agent Speed: ~3.19s/answer.</a:t>
            </a:r>
          </a:p>
          <a:p>
            <a:pPr lvl="1"/>
            <a:r>
              <a:rPr sz="1800" dirty="0"/>
              <a:t>Strong reasoning in alphanumeric &amp; circular arrangements.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About</a:t>
            </a:r>
            <a:r>
              <a:rPr sz="2000" dirty="0"/>
              <a:t> Our Solution:</a:t>
            </a:r>
          </a:p>
          <a:p>
            <a:pPr lvl="1"/>
            <a:r>
              <a:rPr sz="1800" dirty="0"/>
              <a:t>Smarter Model (14B vs 4B baseline).</a:t>
            </a:r>
          </a:p>
          <a:p>
            <a:pPr lvl="1"/>
            <a:r>
              <a:rPr sz="1800" dirty="0"/>
              <a:t>Bulletproof Regex Parsing (No Invalid JSON).</a:t>
            </a:r>
          </a:p>
          <a:p>
            <a:pPr lvl="1"/>
            <a:r>
              <a:rPr sz="1800" dirty="0"/>
              <a:t>Significantly Under Latency Limits.</a:t>
            </a:r>
          </a:p>
          <a:p>
            <a:pPr lvl="1"/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</TotalTime>
  <Words>427</Words>
  <Application>Microsoft Office PowerPoint</Application>
  <PresentationFormat>On-screen Show (4:3)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AMD AI Premier League (AAIPL)</vt:lpstr>
      <vt:lpstr>The Challenge</vt:lpstr>
      <vt:lpstr>Solution Architecture</vt:lpstr>
      <vt:lpstr>Data Strategy (The Foundation)</vt:lpstr>
      <vt:lpstr>Model Training &amp; Optimization</vt:lpstr>
      <vt:lpstr>Agent Engineering (The Secret Sauce)</vt:lpstr>
      <vt:lpstr>Performance 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Tushar</dc:creator>
  <cp:keywords/>
  <dc:description>generated using python-pptx</dc:description>
  <cp:lastModifiedBy>Tushar Chaudhary</cp:lastModifiedBy>
  <cp:revision>3</cp:revision>
  <dcterms:created xsi:type="dcterms:W3CDTF">2013-01-27T09:14:16Z</dcterms:created>
  <dcterms:modified xsi:type="dcterms:W3CDTF">2026-02-15T08:20:15Z</dcterms:modified>
  <cp:category/>
</cp:coreProperties>
</file>